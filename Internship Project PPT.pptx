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751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322426-E3E0-4CDD-866A-21804424E2A8}"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3109152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322426-E3E0-4CDD-866A-21804424E2A8}"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145433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322426-E3E0-4CDD-866A-21804424E2A8}"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4258929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322426-E3E0-4CDD-866A-21804424E2A8}"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185246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322426-E3E0-4CDD-866A-21804424E2A8}" type="datetimeFigureOut">
              <a:rPr lang="en-US" smtClean="0"/>
              <a:t>7/28/2024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1484737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322426-E3E0-4CDD-866A-21804424E2A8}" type="datetimeFigureOut">
              <a:rPr lang="en-US" smtClean="0"/>
              <a:t>7/28/2024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1412960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322426-E3E0-4CDD-866A-21804424E2A8}" type="datetimeFigureOut">
              <a:rPr lang="en-US" smtClean="0"/>
              <a:t>7/28/2024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250352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322426-E3E0-4CDD-866A-21804424E2A8}"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3742496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322426-E3E0-4CDD-866A-21804424E2A8}"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2253488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322426-E3E0-4CDD-866A-21804424E2A8}"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207072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322426-E3E0-4CDD-866A-21804424E2A8}"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D2FE7-A4B1-4456-BE9C-744C3F96222D}" type="slidenum">
              <a:rPr lang="en-US" smtClean="0"/>
              <a:t>‹#›</a:t>
            </a:fld>
            <a:endParaRPr lang="en-US"/>
          </a:p>
        </p:txBody>
      </p:sp>
    </p:spTree>
    <p:extLst>
      <p:ext uri="{BB962C8B-B14F-4D97-AF65-F5344CB8AC3E}">
        <p14:creationId xmlns:p14="http://schemas.microsoft.com/office/powerpoint/2010/main" val="1842296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322426-E3E0-4CDD-866A-21804424E2A8}" type="datetimeFigureOut">
              <a:rPr lang="en-US" smtClean="0"/>
              <a:t>7/28/2024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BD2FE7-A4B1-4456-BE9C-744C3F96222D}" type="slidenum">
              <a:rPr lang="en-US" smtClean="0"/>
              <a:t>‹#›</a:t>
            </a:fld>
            <a:endParaRPr lang="en-US"/>
          </a:p>
        </p:txBody>
      </p:sp>
    </p:spTree>
    <p:extLst>
      <p:ext uri="{BB962C8B-B14F-4D97-AF65-F5344CB8AC3E}">
        <p14:creationId xmlns:p14="http://schemas.microsoft.com/office/powerpoint/2010/main" val="3581008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338734"/>
            <a:ext cx="12192000" cy="1268964"/>
          </a:xfrm>
          <a:prstGeom prst="rect">
            <a:avLst/>
          </a:prstGeom>
          <a:solidFill>
            <a:srgbClr val="975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591507" y="411167"/>
            <a:ext cx="5008984" cy="461665"/>
          </a:xfrm>
          <a:prstGeom prst="rect">
            <a:avLst/>
          </a:prstGeom>
        </p:spPr>
        <p:txBody>
          <a:bodyPr wrap="square">
            <a:spAutoFit/>
          </a:bodyPr>
          <a:lstStyle/>
          <a:p>
            <a:pPr algn="ctr"/>
            <a:r>
              <a:rPr lang="en-US" sz="2400" b="1" dirty="0" smtClean="0">
                <a:latin typeface="Times New Roman" panose="02020603050405020304" pitchFamily="18" charset="0"/>
                <a:ea typeface="Calibri" panose="020F0502020204030204" pitchFamily="34" charset="0"/>
              </a:rPr>
              <a:t>KAIRIZ CYBER TECHNOLOGIES</a:t>
            </a:r>
            <a:endParaRPr lang="en-US" sz="2400" dirty="0"/>
          </a:p>
        </p:txBody>
      </p:sp>
      <p:sp>
        <p:nvSpPr>
          <p:cNvPr id="6" name="Rectangle 5"/>
          <p:cNvSpPr/>
          <p:nvPr/>
        </p:nvSpPr>
        <p:spPr>
          <a:xfrm>
            <a:off x="2931367" y="4619273"/>
            <a:ext cx="6329265" cy="707886"/>
          </a:xfrm>
          <a:prstGeom prst="rect">
            <a:avLst/>
          </a:prstGeom>
        </p:spPr>
        <p:txBody>
          <a:bodyPr wrap="square">
            <a:spAutoFit/>
          </a:bodyPr>
          <a:lstStyle/>
          <a:p>
            <a:pPr algn="ctr"/>
            <a:r>
              <a:rPr lang="en-US" sz="2000" b="1" dirty="0">
                <a:solidFill>
                  <a:schemeClr val="bg1"/>
                </a:solidFill>
                <a:latin typeface="Times New Roman" panose="02020603050405020304" pitchFamily="18" charset="0"/>
                <a:ea typeface="Calibri" panose="020F0502020204030204" pitchFamily="34" charset="0"/>
              </a:rPr>
              <a:t>COMPREHENSIVE SECURITY ASSESSMENT AND HARDENING OF A SMALL BUSINESS NETWORK</a:t>
            </a:r>
            <a:endParaRPr lang="en-US" sz="2000" dirty="0">
              <a:solidFill>
                <a:schemeClr val="bg1"/>
              </a:solidFill>
            </a:endParaRPr>
          </a:p>
        </p:txBody>
      </p:sp>
      <p:sp>
        <p:nvSpPr>
          <p:cNvPr id="7" name="Rectangle 6"/>
          <p:cNvSpPr/>
          <p:nvPr/>
        </p:nvSpPr>
        <p:spPr>
          <a:xfrm>
            <a:off x="4182834" y="782269"/>
            <a:ext cx="3826330" cy="461665"/>
          </a:xfrm>
          <a:prstGeom prst="rect">
            <a:avLst/>
          </a:prstGeom>
        </p:spPr>
        <p:txBody>
          <a:bodyPr wrap="square">
            <a:spAutoFit/>
          </a:bodyPr>
          <a:lstStyle/>
          <a:p>
            <a:pPr algn="ctr"/>
            <a:r>
              <a:rPr lang="en-US" sz="2400" b="1" dirty="0" smtClean="0">
                <a:latin typeface="Times New Roman" panose="02020603050405020304" pitchFamily="18" charset="0"/>
                <a:ea typeface="Calibri" panose="020F0502020204030204" pitchFamily="34" charset="0"/>
              </a:rPr>
              <a:t>SMC PRIVATE-LIMITED</a:t>
            </a:r>
            <a:endParaRPr lang="en-US" sz="2400" dirty="0"/>
          </a:p>
        </p:txBody>
      </p:sp>
      <p:sp>
        <p:nvSpPr>
          <p:cNvPr id="8" name="Rectangle 7"/>
          <p:cNvSpPr/>
          <p:nvPr/>
        </p:nvSpPr>
        <p:spPr>
          <a:xfrm>
            <a:off x="4954359" y="2506640"/>
            <a:ext cx="2283280" cy="461665"/>
          </a:xfrm>
          <a:prstGeom prst="rect">
            <a:avLst/>
          </a:prstGeom>
        </p:spPr>
        <p:txBody>
          <a:bodyPr wrap="square">
            <a:spAutoFit/>
          </a:bodyPr>
          <a:lstStyle/>
          <a:p>
            <a:pPr algn="ctr"/>
            <a:r>
              <a:rPr lang="en-US" sz="2400" b="1" dirty="0" smtClean="0">
                <a:latin typeface="Times New Roman" panose="02020603050405020304" pitchFamily="18" charset="0"/>
              </a:rPr>
              <a:t>Cyber Security</a:t>
            </a:r>
            <a:endParaRPr lang="en-US" sz="2400" dirty="0"/>
          </a:p>
        </p:txBody>
      </p:sp>
      <p:pic>
        <p:nvPicPr>
          <p:cNvPr id="9" name="Picture 8"/>
          <p:cNvPicPr/>
          <p:nvPr/>
        </p:nvPicPr>
        <p:blipFill>
          <a:blip r:embed="rId2" cstate="print">
            <a:extLst>
              <a:ext uri="{BEBA8EAE-BF5A-486C-A8C5-ECC9F3942E4B}">
                <a14:imgProps xmlns:a14="http://schemas.microsoft.com/office/drawing/2010/main">
                  <a14:imgLayer r:embed="rId3">
                    <a14:imgEffect>
                      <a14:artisticPencilSketch/>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30703" y="4231653"/>
            <a:ext cx="1376045" cy="1376045"/>
          </a:xfrm>
          <a:prstGeom prst="rect">
            <a:avLst/>
          </a:prstGeom>
        </p:spPr>
      </p:pic>
      <p:pic>
        <p:nvPicPr>
          <p:cNvPr id="10" name="Picture 9"/>
          <p:cNvPicPr/>
          <p:nvPr/>
        </p:nvPicPr>
        <p:blipFill>
          <a:blip r:embed="rId2" cstate="print">
            <a:extLst>
              <a:ext uri="{BEBA8EAE-BF5A-486C-A8C5-ECC9F3942E4B}">
                <a14:imgProps xmlns:a14="http://schemas.microsoft.com/office/drawing/2010/main">
                  <a14:imgLayer r:embed="rId3">
                    <a14:imgEffect>
                      <a14:artisticPencilSketch/>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0038293" y="4231652"/>
            <a:ext cx="1376045" cy="1376045"/>
          </a:xfrm>
          <a:prstGeom prst="rect">
            <a:avLst/>
          </a:prstGeom>
        </p:spPr>
      </p:pic>
      <p:sp>
        <p:nvSpPr>
          <p:cNvPr id="11" name="Rectangle 10"/>
          <p:cNvSpPr/>
          <p:nvPr/>
        </p:nvSpPr>
        <p:spPr>
          <a:xfrm>
            <a:off x="4954359" y="2968305"/>
            <a:ext cx="2283280" cy="400110"/>
          </a:xfrm>
          <a:prstGeom prst="rect">
            <a:avLst/>
          </a:prstGeom>
        </p:spPr>
        <p:txBody>
          <a:bodyPr wrap="square">
            <a:spAutoFit/>
          </a:bodyPr>
          <a:lstStyle/>
          <a:p>
            <a:pPr algn="ctr"/>
            <a:r>
              <a:rPr lang="en-US" sz="2000" b="1" dirty="0" smtClean="0">
                <a:latin typeface="Times New Roman" panose="02020603050405020304" pitchFamily="18" charset="0"/>
              </a:rPr>
              <a:t>Internship Project</a:t>
            </a:r>
            <a:endParaRPr lang="en-US" sz="2000" dirty="0"/>
          </a:p>
        </p:txBody>
      </p:sp>
      <p:sp>
        <p:nvSpPr>
          <p:cNvPr id="12" name="Text Box 12"/>
          <p:cNvSpPr txBox="1"/>
          <p:nvPr/>
        </p:nvSpPr>
        <p:spPr>
          <a:xfrm>
            <a:off x="5476873" y="5764972"/>
            <a:ext cx="1357038" cy="355803"/>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0"/>
              </a:spcAft>
            </a:pPr>
            <a:r>
              <a:rPr lang="en-US" sz="1600" b="1" dirty="0" smtClean="0">
                <a:latin typeface="Times New Roman" panose="02020603050405020304" pitchFamily="18" charset="0"/>
                <a:ea typeface="Calibri" panose="020F0502020204030204" pitchFamily="34" charset="0"/>
                <a:cs typeface="Times New Roman" panose="02020603050405020304" pitchFamily="18" charset="0"/>
              </a:rPr>
              <a:t>Prepared</a:t>
            </a:r>
            <a:r>
              <a:rPr lang="en-US" sz="1600" b="1"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By: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p:cNvSpPr/>
          <p:nvPr/>
        </p:nvSpPr>
        <p:spPr>
          <a:xfrm>
            <a:off x="5350171" y="6074519"/>
            <a:ext cx="1610441" cy="388696"/>
          </a:xfrm>
          <a:prstGeom prst="rect">
            <a:avLst/>
          </a:prstGeom>
        </p:spPr>
        <p:txBody>
          <a:bodyPr wrap="none">
            <a:spAutoFit/>
          </a:bodyPr>
          <a:lstStyle/>
          <a:p>
            <a:pPr>
              <a:lnSpc>
                <a:spcPct val="107000"/>
              </a:lnSpc>
              <a:spcAft>
                <a:spcPts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Kanwar Azlan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26433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348" y="929990"/>
            <a:ext cx="1919500" cy="468077"/>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OVERVIEW</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544348" y="1580632"/>
            <a:ext cx="6976126" cy="3769173"/>
          </a:xfrm>
          <a:prstGeom prst="rect">
            <a:avLst/>
          </a:prstGeom>
        </p:spPr>
        <p:txBody>
          <a:bodyPr wrap="square">
            <a:spAutoFit/>
          </a:bodyPr>
          <a:lstStyle/>
          <a:p>
            <a:pPr algn="just">
              <a:lnSpc>
                <a:spcPct val="107000"/>
              </a:lnSpc>
              <a:spcAft>
                <a:spcPts val="80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The objective of this cybersecurity internship is to develop practical skills and hands-on experience in various aspects of cybersecurity, including password cracking, vulnerability scanning, network scanning, web application penetration testing, and conducting comprehensive security assessments. The tasks are designed to simulate real-world scenarios and provide a thorough understanding of cybersecurity tools and techniques. </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Each </a:t>
            </a:r>
            <a:r>
              <a:rPr lang="en-US" sz="1400" dirty="0">
                <a:latin typeface="Times New Roman" panose="02020603050405020304" pitchFamily="18" charset="0"/>
                <a:ea typeface="Calibri" panose="020F0502020204030204" pitchFamily="34" charset="0"/>
                <a:cs typeface="Times New Roman" panose="02020603050405020304" pitchFamily="18" charset="0"/>
              </a:rPr>
              <a:t>task culminates in the documentation of the process and results, emphasizing the importance of meticulous record-keeping and reporting in cybersecurity. This project will give a comprehensive understanding of various aspects of network security, from initial assessment and penetration testing to implementing security measures and developing incident response </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plans. </a:t>
            </a: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The final task is a comprehensive project that involves conducting a security assessment of a small </a:t>
            </a:r>
            <a:r>
              <a:rPr lang="en-US" sz="1400" dirty="0">
                <a:latin typeface="Times New Roman" panose="02020603050405020304" pitchFamily="18" charset="0"/>
                <a:ea typeface="Calibri" panose="020F0502020204030204" pitchFamily="34" charset="0"/>
                <a:cs typeface="Times New Roman" panose="02020603050405020304" pitchFamily="18" charset="0"/>
              </a:rPr>
              <a:t>business network. Interns will map the network topology using tools like Nmap and Wireshark, perform vulnerability scans with OpenVAS or Nessus, and conduct penetration testing using tools like Metasploit and Burp </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Suite. The </a:t>
            </a:r>
            <a:r>
              <a:rPr lang="en-US" sz="1400" dirty="0">
                <a:latin typeface="Times New Roman" panose="02020603050405020304" pitchFamily="18" charset="0"/>
                <a:ea typeface="Calibri" panose="020F0502020204030204" pitchFamily="34" charset="0"/>
                <a:cs typeface="Times New Roman" panose="02020603050405020304" pitchFamily="18" charset="0"/>
              </a:rPr>
              <a:t>project includes implementing security measures such as network segmentation, patch management, and endpoint security, and developing an incident response plan. The project concludes with a detailed report and presentation of findings and recommendations to business stakeholders.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4" descr="Map out a career change to cyber security | NE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9763" y="1673938"/>
            <a:ext cx="4049486" cy="3317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552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3484031" cy="487506"/>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PHASE #1 - SUMMARY</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571300"/>
            <a:ext cx="6892150" cy="3319498"/>
          </a:xfrm>
          <a:prstGeom prst="rect">
            <a:avLst/>
          </a:prstGeom>
        </p:spPr>
        <p:txBody>
          <a:bodyPr wrap="square">
            <a:spAutoFit/>
          </a:bodyPr>
          <a:lstStyle/>
          <a:p>
            <a:pPr algn="just">
              <a:lnSpc>
                <a:spcPct val="107000"/>
              </a:lnSpc>
              <a:spcAft>
                <a:spcPts val="800"/>
              </a:spcAft>
            </a:pPr>
            <a:r>
              <a:rPr lang="en-US" sz="1400" dirty="0">
                <a:latin typeface="Times New Roman" panose="02020603050405020304" pitchFamily="18" charset="0"/>
                <a:cs typeface="Times New Roman" panose="02020603050405020304" pitchFamily="18" charset="0"/>
              </a:rPr>
              <a:t>The first task involves using Hashcat, a powerful password recovery tool, to crack hashed passwords. Interns will set up Hashcat, identify the hash type, and use various attack modes and wordlists to attempt to crack the hashes. Techniques such as rule-based transformations and combinatorial attacks will be applied. The task emphasizes understanding different hash modes and optimizing performance for effective password cracking. In the initial phase, the focus is on gaining a comprehensive understanding of the network’s current state. Interns will use tools such as Nmap and Wireshark to map the network topology, identifying all connected devices, including servers, workstations, routers, switches, and IoT devices. This involves documenting IP addresses, MAC addresses, and device roles. An asset inventory is created, noting operating systems, installed software, firmware versions, and service packs. A vulnerability scan using tools like OpenVAS or Nessus is performed to identify vulnerabilities in network devices and applications. The findings from network mapping, asset inventory, and vulnerability scanning are compiled into an initial report summarizing the current network security status. </a:t>
            </a:r>
          </a:p>
        </p:txBody>
      </p:sp>
      <p:pic>
        <p:nvPicPr>
          <p:cNvPr id="1030" name="Picture 6" descr="Basics of Computer Networking | Free Online Course | Ali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2482" y="1571300"/>
            <a:ext cx="4269403" cy="3010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8142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3484031" cy="487506"/>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PHASE #2 - SUMMARY</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571300"/>
            <a:ext cx="6892150" cy="3323987"/>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second task focuses on setting up and using OpenVAS for vulnerability scanning. Interns will install OpenVAS, perform initial scans on target IPs, and analyze the scan results to identify high, medium, and low severity vulnerabilities. This task involves validating findings to identify false positives and providing detailed remediation steps for significant vulnerabilities. This phase involves both external and internal penetration testing to identify vulnerabilities that could be exploited by attackers. External penetration testing uses tools such as Metasploitable, Burp Suite, and OWASP ZAP to uncover vulnerabilities accessible from outside the network. Successful exploits and security weaknesses are documented. Internal penetration testing focuses on vulnerabilities exploitable by insiders or through lateral movement, emphasizing privilege escalation, lateral movement, and access to sensitive data. If the business has web applications, a thorough security assessment of these applications is conducted, targeting common vulnerabilities like SQL injection, cross-site scripting (XSS), and insecure authentication mechanisms. The phase concludes with a detailed report of the penetration testing activities, including descriptions of discovered vulnerabilities, proof-of-concept exploits, and their potential impact.</a:t>
            </a:r>
          </a:p>
        </p:txBody>
      </p:sp>
      <p:pic>
        <p:nvPicPr>
          <p:cNvPr id="3074" name="Picture 2" descr="A complete guide to Web Application Penetration T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4749" y="1679745"/>
            <a:ext cx="4348311" cy="2920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0019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3484031" cy="487506"/>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PHASE #3 - SUMMARY</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571300"/>
            <a:ext cx="6892150" cy="353943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In the third task, interns will use Nmap to perform network scans, identify live hosts, open ports, running services, and detect operating systems. The task includes performing detailed scans using Nmap Scripting Engine (NSE) to detect specific vulnerabilities and saving scan results for analysis. Interns will document their findings, including any hidden or filtered ports discovered using advanced techniques. In this phase, security measures are implemented to mitigate identified risks. Network segmentation is performed to limit the spread of attacks, creating VLANs and configuring firewall rules to control traffic between segments. Ensuring all devices and software are up-to-date with the latest patches and security updates is critical, necessitating the establishment of a patch management process. User permissions and access controls are reviewed and updated, enforcing the principle of least privilege. Strong authentication mechanisms, such as multi-factor authentication (MFA), are enforced. Endpoint security solutions, including antivirus and anti-malware software, are installed and configured. Host-based firewalls and intrusion detection/prevention systems (HIDS/HIPS) are enabled. Security policies and procedures are developed and implemented, alongside security awareness training for employees. A robust backup and disaster recovery plan is ensured, with regular testing to verify data restoration capabilities. </a:t>
            </a:r>
          </a:p>
        </p:txBody>
      </p:sp>
      <p:pic>
        <p:nvPicPr>
          <p:cNvPr id="5122" name="Picture 2" descr="Username Login Image &amp; Photo (Free Trial) | Bigstock"/>
          <p:cNvPicPr>
            <a:picLocks noChangeAspect="1" noChangeArrowheads="1"/>
          </p:cNvPicPr>
          <p:nvPr/>
        </p:nvPicPr>
        <p:blipFill rotWithShape="1">
          <a:blip r:embed="rId2">
            <a:extLst>
              <a:ext uri="{28A0092B-C50C-407E-A947-70E740481C1C}">
                <a14:useLocalDpi xmlns:a14="http://schemas.microsoft.com/office/drawing/2010/main" val="0"/>
              </a:ext>
            </a:extLst>
          </a:blip>
          <a:srcRect l="350" t="-9233" r="-350" b="9440"/>
          <a:stretch/>
        </p:blipFill>
        <p:spPr bwMode="auto">
          <a:xfrm>
            <a:off x="7492482" y="1380174"/>
            <a:ext cx="4348065" cy="3434422"/>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553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3484031" cy="487506"/>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PHASE #4 - SUMMARY</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571300"/>
            <a:ext cx="6892150"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fourth task involves using OWASP ZAP to test web applications for common vulnerabilities such as SQL injection, XSS, and CSRF. Interns will configure their browser to use ZAP as a proxy, use the spider tool to crawl the target application, and perform both automated and manual testing to identify vulnerabilities. This task emphasizes the importance of manual verification to uncover undetected vulnerabilities. The final phase focuses on establishing ongoing monitoring and incident response capabilities. A Security Information and Event Management (SIEM) system is set up to monitor network traffic and security events, with alerts configured for suspicious activities and potential incidents. An incident response plan is developed, defining roles and responsibilities for incident response team members. Regular drills and tabletop exercises are conducted to test the plan. A comprehensive final report is compiled, detailing all activities, findings, and improvements made during the project. The report includes recommendations for ongoing security maintenance and improvements. Finally, the findings and recommendations are presented to business stakeholders, summarizing the project outcomes and future security enhancements.</a:t>
            </a:r>
            <a:endParaRPr lang="en-US" sz="1100" dirty="0">
              <a:latin typeface="Times New Roman" panose="02020603050405020304" pitchFamily="18" charset="0"/>
              <a:cs typeface="Times New Roman" panose="02020603050405020304" pitchFamily="18" charset="0"/>
            </a:endParaRPr>
          </a:p>
        </p:txBody>
      </p:sp>
      <p:pic>
        <p:nvPicPr>
          <p:cNvPr id="4098" name="Picture 2" descr="SOC As A Service | Rockwell Automation | 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4747" y="1642187"/>
            <a:ext cx="4201154" cy="3037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8784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4635821" cy="468077"/>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FUTURE RECOMMENDATION</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524647"/>
            <a:ext cx="10671048" cy="461664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To ensure the ongoing security and resilience of the network, it is crucial to implement continuous monitoring and robust incident response capabilities. A Security Information and Event Management (SIEM) solution should be deployed to monitor network traffic and security events in real-time, with alerts configured for any unusual activities or potential security </a:t>
            </a:r>
            <a:r>
              <a:rPr lang="en-US" sz="1400" dirty="0" smtClean="0">
                <a:latin typeface="Times New Roman" panose="02020603050405020304" pitchFamily="18" charset="0"/>
                <a:cs typeface="Times New Roman" panose="02020603050405020304" pitchFamily="18" charset="0"/>
              </a:rPr>
              <a:t>incidents.</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This </a:t>
            </a:r>
            <a:r>
              <a:rPr lang="en-US" sz="1400" dirty="0">
                <a:latin typeface="Times New Roman" panose="02020603050405020304" pitchFamily="18" charset="0"/>
                <a:cs typeface="Times New Roman" panose="02020603050405020304" pitchFamily="18" charset="0"/>
              </a:rPr>
              <a:t>should be complemented by the establishment of a dedicated Security </a:t>
            </a:r>
            <a:r>
              <a:rPr lang="en-US" sz="1400" dirty="0" smtClean="0">
                <a:latin typeface="Times New Roman" panose="02020603050405020304" pitchFamily="18" charset="0"/>
                <a:cs typeface="Times New Roman" panose="02020603050405020304" pitchFamily="18" charset="0"/>
              </a:rPr>
              <a:t>Operations </a:t>
            </a:r>
            <a:r>
              <a:rPr lang="en-US" sz="1400" dirty="0">
                <a:latin typeface="Times New Roman" panose="02020603050405020304" pitchFamily="18" charset="0"/>
                <a:cs typeface="Times New Roman" panose="02020603050405020304" pitchFamily="18" charset="0"/>
              </a:rPr>
              <a:t>Center (SOC) to centralize monitoring and incident response efforts. The SOC team should regularly conduct threat-hunting exercises to proactively identify and mitigate potential threats. Maintaining an up-to-date incident response plan with clearly defined roles and responsibilities is essential.</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Regular </a:t>
            </a:r>
            <a:r>
              <a:rPr lang="en-US" sz="1400" dirty="0">
                <a:latin typeface="Times New Roman" panose="02020603050405020304" pitchFamily="18" charset="0"/>
                <a:cs typeface="Times New Roman" panose="02020603050405020304" pitchFamily="18" charset="0"/>
              </a:rPr>
              <a:t>vulnerability assessments and penetration tests should be conducted to identify and remediate new vulnerabilities as they arise. This involves scheduling periodic scans using tools like OpenVAS, Nessus, and Nmap, and performing both external and internal penetration testing to evaluate the network's security posture. Staying informed about the latest vulnerabilities and attack vectors is crucial, and leveraging threat intelligence feeds can help in this </a:t>
            </a:r>
            <a:r>
              <a:rPr lang="en-US" sz="1400" dirty="0" smtClean="0">
                <a:latin typeface="Times New Roman" panose="02020603050405020304" pitchFamily="18" charset="0"/>
                <a:cs typeface="Times New Roman" panose="02020603050405020304" pitchFamily="18" charset="0"/>
              </a:rPr>
              <a:t>regard.</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User </a:t>
            </a:r>
            <a:r>
              <a:rPr lang="en-US" sz="1400" dirty="0">
                <a:latin typeface="Times New Roman" panose="02020603050405020304" pitchFamily="18" charset="0"/>
                <a:cs typeface="Times New Roman" panose="02020603050405020304" pitchFamily="18" charset="0"/>
              </a:rPr>
              <a:t>access controls and authentication mechanisms should be regularly audited and updated to enforce the principle of least privilege. Implementing multi-factor authentication (MFA) for all critical systems and services is recommended to enhance security. Endpoint security measures, such as antivirus and anti-malware solutions, should be kept up-to-date, and host-based firewalls and intrusion detection/prevention systems (HIDS/HIPS) should be configured and monitored.</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1400" dirty="0" smtClean="0">
                <a:latin typeface="Times New Roman" panose="02020603050405020304" pitchFamily="18" charset="0"/>
                <a:cs typeface="Times New Roman" panose="02020603050405020304" pitchFamily="18" charset="0"/>
              </a:rPr>
              <a:t>Developing </a:t>
            </a:r>
            <a:r>
              <a:rPr lang="en-US" sz="1400" dirty="0">
                <a:latin typeface="Times New Roman" panose="02020603050405020304" pitchFamily="18" charset="0"/>
                <a:cs typeface="Times New Roman" panose="02020603050405020304" pitchFamily="18" charset="0"/>
              </a:rPr>
              <a:t>and enforcing comprehensive security policies and procedures is essential for maintaining a strong security posture. This should be accompanied by ongoing security awareness training for all employees to educate them on best practices and emerging threats.</a:t>
            </a: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6988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703" y="892668"/>
            <a:ext cx="2273379" cy="468077"/>
          </a:xfrm>
          <a:prstGeom prst="rect">
            <a:avLst/>
          </a:prstGeom>
        </p:spPr>
        <p:txBody>
          <a:bodyPr wrap="none">
            <a:spAutoFit/>
          </a:bodyPr>
          <a:lstStyle/>
          <a:p>
            <a:pPr>
              <a:lnSpc>
                <a:spcPct val="107000"/>
              </a:lnSpc>
              <a:spcAft>
                <a:spcPts val="800"/>
              </a:spcAft>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CONCLUSION</a:t>
            </a:r>
            <a:endParaRPr lang="en-US" sz="16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9703" y="1627284"/>
            <a:ext cx="10671048" cy="2954655"/>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To ensure the ongoing security and resilience of the network, it is crucial to implement continuous monitoring and robust incident response capabilities. A Security Information and Event Management (SIEM) solution should be deployed to monitor network traffic and security events in real-time, with alerts configured for any unusual activities or potential security </a:t>
            </a:r>
            <a:r>
              <a:rPr lang="en-US" sz="1400" dirty="0" smtClean="0">
                <a:latin typeface="Times New Roman" panose="02020603050405020304" pitchFamily="18" charset="0"/>
                <a:cs typeface="Times New Roman" panose="02020603050405020304" pitchFamily="18" charset="0"/>
              </a:rPr>
              <a:t>incidents. This </a:t>
            </a:r>
            <a:r>
              <a:rPr lang="en-US" sz="1400" dirty="0">
                <a:latin typeface="Times New Roman" panose="02020603050405020304" pitchFamily="18" charset="0"/>
                <a:cs typeface="Times New Roman" panose="02020603050405020304" pitchFamily="18" charset="0"/>
              </a:rPr>
              <a:t>should be complemented by the establishment of a dedicated Security </a:t>
            </a:r>
            <a:r>
              <a:rPr lang="en-US" sz="1400" dirty="0" smtClean="0">
                <a:latin typeface="Times New Roman" panose="02020603050405020304" pitchFamily="18" charset="0"/>
                <a:cs typeface="Times New Roman" panose="02020603050405020304" pitchFamily="18" charset="0"/>
              </a:rPr>
              <a:t>Operations </a:t>
            </a:r>
            <a:r>
              <a:rPr lang="en-US" sz="1400" dirty="0">
                <a:latin typeface="Times New Roman" panose="02020603050405020304" pitchFamily="18" charset="0"/>
                <a:cs typeface="Times New Roman" panose="02020603050405020304" pitchFamily="18" charset="0"/>
              </a:rPr>
              <a:t>Center (SOC) to centralize monitoring and incident response efforts. The SOC team should regularly conduct threat-hunting exercises to proactively identify and mitigate potential threats. Maintaining an up-to-date incident response plan with clearly defined roles and responsibilities is </a:t>
            </a:r>
            <a:r>
              <a:rPr lang="en-US" sz="1400" dirty="0" smtClean="0">
                <a:latin typeface="Times New Roman" panose="02020603050405020304" pitchFamily="18" charset="0"/>
                <a:cs typeface="Times New Roman" panose="02020603050405020304" pitchFamily="18" charset="0"/>
              </a:rPr>
              <a:t>essential. The </a:t>
            </a:r>
            <a:r>
              <a:rPr lang="en-US" sz="1400" dirty="0">
                <a:latin typeface="Times New Roman" panose="02020603050405020304" pitchFamily="18" charset="0"/>
                <a:cs typeface="Times New Roman" panose="02020603050405020304" pitchFamily="18" charset="0"/>
              </a:rPr>
              <a:t>objective of this cybersecurity internship is to develop practical skills and hands-on experience in various aspects of cybersecurity, including password cracking, vulnerability scanning, network scanning, web application penetration testing, and conducting comprehensive security assessments. The tasks are designed to simulate real-world scenarios and provide a thorough understanding of cybersecurity tools and techniques. Each task culminates in the documentation of the process and results, emphasizing the importance of meticulous record-keeping and reporting in cybersecurity. The project includes implementing security measures such as network segmentation, patch management, and endpoint security, and developing an incident response plan. The project concludes with a detailed report and presentation of findings and recommendations to business stakeholders.</a:t>
            </a:r>
            <a:r>
              <a:rPr lang="en-US" dirty="0"/>
              <a:t> </a:t>
            </a: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9185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1608</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Azlan Rajput</dc:creator>
  <cp:lastModifiedBy>Azlan Rajput</cp:lastModifiedBy>
  <cp:revision>24</cp:revision>
  <dcterms:created xsi:type="dcterms:W3CDTF">2024-07-28T17:35:57Z</dcterms:created>
  <dcterms:modified xsi:type="dcterms:W3CDTF">2024-07-28T18:16:03Z</dcterms:modified>
</cp:coreProperties>
</file>